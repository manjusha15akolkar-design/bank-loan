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Nunito" pitchFamily="2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ec2ad312b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ec2ad312b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ec2ad312b_0_1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ec2ad312b_0_1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ec2ad312b_1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ec2ad312b_1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ec2ad312b_0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ec2ad312b_0_7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ec2ad312b_0_19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ec2ad312b_0_19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ec2ad312b_0_1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ec2ad312b_0_1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ec2ad312b_0_1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ec2ad312b_0_1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ec2ad312b_0_1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ec2ad312b_0_19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ec2ad312b_0_19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ec2ad312b_0_19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ec2ad312b_0_19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ec2ad312b_0_19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ec2ad312b_0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ec2ad312b_0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ec2ad312b_0_1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ec2ad312b_0_1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ec2ad312b_0_2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ec2ad312b_0_2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ec2ad312b_0_20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ec2ad312b_0_20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ec2ad312b_0_2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ec2ad312b_0_2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ec2ad312b_0_2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ec2ad312b_0_2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ec2ad312b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ec2ad312b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ec2ad312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ec2ad312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ec2ad312b_0_1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ec2ad312b_0_19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gradFill>
          <a:gsLst>
            <a:gs pos="0">
              <a:srgbClr val="FFDBCA"/>
            </a:gs>
            <a:gs pos="100000">
              <a:srgbClr val="FA844D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824000" y="575749"/>
            <a:ext cx="4255500" cy="17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BANK ANALYTICS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P1009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824000" y="2423675"/>
            <a:ext cx="4255500" cy="216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/>
              <a:t>By Group-6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3" b="1">
                <a:latin typeface="Arial"/>
                <a:ea typeface="Arial"/>
                <a:cs typeface="Arial"/>
                <a:sym typeface="Arial"/>
              </a:rPr>
              <a:t>AKSHAY HIVARKAR</a:t>
            </a:r>
            <a:endParaRPr sz="1383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383" b="1">
                <a:latin typeface="Arial"/>
                <a:ea typeface="Arial"/>
                <a:cs typeface="Arial"/>
                <a:sym typeface="Arial"/>
              </a:rPr>
              <a:t>DIVYA T</a:t>
            </a:r>
            <a:endParaRPr sz="1383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383" b="1">
                <a:latin typeface="Arial"/>
                <a:ea typeface="Arial"/>
                <a:cs typeface="Arial"/>
                <a:sym typeface="Arial"/>
              </a:rPr>
              <a:t>MANJUSHA SATISH AKOLKAR</a:t>
            </a:r>
            <a:endParaRPr sz="1383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483" b="1">
                <a:latin typeface="Arial"/>
                <a:ea typeface="Arial"/>
                <a:cs typeface="Arial"/>
                <a:sym typeface="Arial"/>
              </a:rPr>
              <a:t>SRI GANESH KG</a:t>
            </a:r>
            <a:endParaRPr sz="1483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13" title="Big-Data-Financ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500" y="967625"/>
            <a:ext cx="3959050" cy="361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6250"/>
            <a:ext cx="8602125" cy="423484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3656100" y="216075"/>
            <a:ext cx="18318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2"/>
                </a:solidFill>
              </a:rPr>
              <a:t>AGENDA</a:t>
            </a:r>
            <a:endParaRPr sz="24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 rot="-5400000">
            <a:off x="-697500" y="2497000"/>
            <a:ext cx="3241200" cy="525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PROJECT MANAGEMENT TOOLS</a:t>
            </a:r>
            <a:endParaRPr sz="15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4325800" y="1188638"/>
            <a:ext cx="2020500" cy="525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2"/>
                </a:solidFill>
              </a:rPr>
              <a:t>Excel</a:t>
            </a:r>
            <a:endParaRPr sz="2500" b="1">
              <a:solidFill>
                <a:schemeClr val="dk2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325800" y="2046438"/>
            <a:ext cx="2020500" cy="525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2"/>
                </a:solidFill>
              </a:rPr>
              <a:t>Tableau</a:t>
            </a:r>
            <a:endParaRPr sz="2500" b="1">
              <a:solidFill>
                <a:schemeClr val="dk2"/>
              </a:solidFill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4325788" y="2874488"/>
            <a:ext cx="2020500" cy="525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2"/>
                </a:solidFill>
              </a:rPr>
              <a:t>Power BI</a:t>
            </a:r>
            <a:endParaRPr sz="2500" b="1">
              <a:solidFill>
                <a:schemeClr val="dk2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4325800" y="3702513"/>
            <a:ext cx="2020500" cy="525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2"/>
                </a:solidFill>
              </a:rPr>
              <a:t>My SQL</a:t>
            </a:r>
            <a:endParaRPr sz="2500" b="1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1702025" y="1382750"/>
            <a:ext cx="1913700" cy="3312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79163"/>
              </a:gs>
              <a:gs pos="100000">
                <a:srgbClr val="C64A1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1757825" y="2240550"/>
            <a:ext cx="1802100" cy="3312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79163"/>
              </a:gs>
              <a:gs pos="100000">
                <a:srgbClr val="C64A1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757825" y="3098350"/>
            <a:ext cx="1913700" cy="3312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79163"/>
              </a:gs>
              <a:gs pos="100000">
                <a:srgbClr val="C64A1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1702025" y="3896625"/>
            <a:ext cx="1913700" cy="3312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79163"/>
              </a:gs>
              <a:gs pos="100000">
                <a:srgbClr val="C64A1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4" name="Google Shape;94;p15" title="EXCEL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1350" y="1101050"/>
            <a:ext cx="1582950" cy="6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title="Tableau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1350" y="1958850"/>
            <a:ext cx="1527352" cy="61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title="BI 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3550" y="2786900"/>
            <a:ext cx="1582950" cy="6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SQL 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1350" y="3599463"/>
            <a:ext cx="1582950" cy="6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3714750" y="242475"/>
            <a:ext cx="17145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2"/>
                </a:solidFill>
              </a:rPr>
              <a:t>TOOLS</a:t>
            </a:r>
            <a:endParaRPr sz="24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 title="PBIETL01.png"/>
          <p:cNvPicPr preferRelativeResize="0"/>
          <p:nvPr/>
        </p:nvPicPr>
        <p:blipFill rotWithShape="1">
          <a:blip r:embed="rId3">
            <a:alphaModFix/>
          </a:blip>
          <a:srcRect t="9173"/>
          <a:stretch/>
        </p:blipFill>
        <p:spPr>
          <a:xfrm>
            <a:off x="305050" y="521400"/>
            <a:ext cx="8575124" cy="44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/>
        </p:nvSpPr>
        <p:spPr>
          <a:xfrm>
            <a:off x="3468150" y="0"/>
            <a:ext cx="22077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WORKFLOW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413700" y="885425"/>
            <a:ext cx="8316600" cy="4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This project involved building Six professional dashboards to give a clear and interactive view of the bank’s performance:</a:t>
            </a:r>
            <a:endParaRPr sz="15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2"/>
                </a:solidFill>
              </a:rPr>
              <a:t>Bank Analytics Dashboard</a:t>
            </a:r>
            <a:r>
              <a:rPr lang="en-GB" sz="1500">
                <a:solidFill>
                  <a:schemeClr val="dk2"/>
                </a:solidFill>
              </a:rPr>
              <a:t>:</a:t>
            </a:r>
            <a:endParaRPr sz="1500">
              <a:solidFill>
                <a:schemeClr val="dk2"/>
              </a:solidFill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solidFill>
                  <a:schemeClr val="dk2"/>
                </a:solidFill>
              </a:rPr>
              <a:t>Focuses on loan disbursements, collections, interest income, delinquencies, and branch performance.</a:t>
            </a:r>
            <a:endParaRPr sz="15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2"/>
                </a:solidFill>
              </a:rPr>
              <a:t>Bank Debit &amp; Credit Dashboard:</a:t>
            </a:r>
            <a:endParaRPr sz="1500" b="1">
              <a:solidFill>
                <a:schemeClr val="dk2"/>
              </a:solidFill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solidFill>
                  <a:schemeClr val="dk2"/>
                </a:solidFill>
              </a:rPr>
              <a:t>Highlights debit and credit activity trends, account balances, and suspicious transactions</a:t>
            </a:r>
            <a:endParaRPr sz="15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We used </a:t>
            </a:r>
            <a:r>
              <a:rPr lang="en-GB" sz="1500" b="1">
                <a:solidFill>
                  <a:schemeClr val="dk2"/>
                </a:solidFill>
              </a:rPr>
              <a:t>MS Excel Power Query and Pivot Tables</a:t>
            </a:r>
            <a:r>
              <a:rPr lang="en-GB" sz="1500">
                <a:solidFill>
                  <a:schemeClr val="dk2"/>
                </a:solidFill>
              </a:rPr>
              <a:t> for data cleaning, transformation, and initial analysis. Additionally, we utilized </a:t>
            </a:r>
            <a:r>
              <a:rPr lang="en-GB" sz="1500" b="1">
                <a:solidFill>
                  <a:schemeClr val="dk2"/>
                </a:solidFill>
              </a:rPr>
              <a:t>Power BI</a:t>
            </a:r>
            <a:r>
              <a:rPr lang="en-GB" sz="1500">
                <a:solidFill>
                  <a:schemeClr val="dk2"/>
                </a:solidFill>
              </a:rPr>
              <a:t> and </a:t>
            </a:r>
            <a:r>
              <a:rPr lang="en-GB" sz="1500" b="1">
                <a:solidFill>
                  <a:schemeClr val="dk2"/>
                </a:solidFill>
              </a:rPr>
              <a:t>Tableau</a:t>
            </a:r>
            <a:r>
              <a:rPr lang="en-GB" sz="1500">
                <a:solidFill>
                  <a:schemeClr val="dk2"/>
                </a:solidFill>
              </a:rPr>
              <a:t> to create interactive dashboards using advanced features such as </a:t>
            </a:r>
            <a:r>
              <a:rPr lang="en-GB" sz="1500" b="1">
                <a:solidFill>
                  <a:schemeClr val="dk2"/>
                </a:solidFill>
              </a:rPr>
              <a:t>DAX functions</a:t>
            </a:r>
            <a:r>
              <a:rPr lang="en-GB" sz="1500">
                <a:solidFill>
                  <a:schemeClr val="dk2"/>
                </a:solidFill>
              </a:rPr>
              <a:t>, </a:t>
            </a:r>
            <a:r>
              <a:rPr lang="en-GB" sz="1500" b="1">
                <a:solidFill>
                  <a:schemeClr val="dk2"/>
                </a:solidFill>
              </a:rPr>
              <a:t>calculated fields</a:t>
            </a:r>
            <a:r>
              <a:rPr lang="en-GB" sz="1500">
                <a:solidFill>
                  <a:schemeClr val="dk2"/>
                </a:solidFill>
              </a:rPr>
              <a:t>, and </a:t>
            </a:r>
            <a:r>
              <a:rPr lang="en-GB" sz="1500" b="1">
                <a:solidFill>
                  <a:schemeClr val="dk2"/>
                </a:solidFill>
              </a:rPr>
              <a:t>dynamic visuals</a:t>
            </a:r>
            <a:r>
              <a:rPr lang="en-GB" sz="1500">
                <a:solidFill>
                  <a:schemeClr val="dk2"/>
                </a:solidFill>
              </a:rPr>
              <a:t>. These tools helped us in building insightful, real-time dashboards that provided clear performance indicators for better decision-making.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315450" y="251300"/>
            <a:ext cx="25131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</a:rPr>
              <a:t>INTRODUCTION</a:t>
            </a:r>
            <a:endParaRPr sz="23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4417775" y="1268275"/>
            <a:ext cx="4512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2"/>
                </a:solidFill>
              </a:rPr>
              <a:t>KPI Explanation and Key Insights 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116" name="Google Shape;116;p18" title="KPI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00" y="289575"/>
            <a:ext cx="4280673" cy="43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213725" y="474900"/>
            <a:ext cx="8572500" cy="4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2"/>
                </a:solidFill>
              </a:rPr>
              <a:t>K</a:t>
            </a:r>
            <a:r>
              <a:rPr lang="en-GB" sz="1000" b="1">
                <a:solidFill>
                  <a:schemeClr val="dk2"/>
                </a:solidFill>
              </a:rPr>
              <a:t>ey KPIs: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Total Loans: 65.54K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Loan Funded: ₹732.7K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Total Collection: ₹815.67M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Total Interest Earned: ₹155.29M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Not-Verified Loans: ₹42.74K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Default Loan Rate: 1.56%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Delinquent Loan Rate: 10.84% – High delinquency, repayment risk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📌 Insights: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Disbursement Trend: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>
                <a:solidFill>
                  <a:schemeClr val="dk2"/>
                </a:solidFill>
              </a:rPr>
              <a:t>Disbursements grew from </a:t>
            </a:r>
            <a:r>
              <a:rPr lang="en-GB" sz="1000" b="1">
                <a:solidFill>
                  <a:schemeClr val="dk2"/>
                </a:solidFill>
              </a:rPr>
              <a:t>FY 2017 </a:t>
            </a:r>
            <a:r>
              <a:rPr lang="en-GB" sz="1000">
                <a:solidFill>
                  <a:schemeClr val="dk2"/>
                </a:solidFill>
              </a:rPr>
              <a:t>to peak </a:t>
            </a:r>
            <a:r>
              <a:rPr lang="en-GB" sz="1000" b="1">
                <a:solidFill>
                  <a:schemeClr val="dk2"/>
                </a:solidFill>
              </a:rPr>
              <a:t>in FY 2019 (₹427M)</a:t>
            </a:r>
            <a:r>
              <a:rPr lang="en-GB" sz="1000">
                <a:solidFill>
                  <a:schemeClr val="dk2"/>
                </a:solidFill>
              </a:rPr>
              <a:t>.</a:t>
            </a:r>
            <a:endParaRPr sz="1000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>
                <a:solidFill>
                  <a:schemeClr val="dk2"/>
                </a:solidFill>
              </a:rPr>
              <a:t>It got dropped in </a:t>
            </a:r>
            <a:r>
              <a:rPr lang="en-GB" sz="1000" b="1">
                <a:solidFill>
                  <a:schemeClr val="dk2"/>
                </a:solidFill>
              </a:rPr>
              <a:t>FY 2020 (₹63M)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State-Wise Loan Distribution: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Uttar Pradesh </a:t>
            </a:r>
            <a:r>
              <a:rPr lang="en-GB" sz="1000">
                <a:solidFill>
                  <a:schemeClr val="dk2"/>
                </a:solidFill>
              </a:rPr>
              <a:t>has the highest loan distribution </a:t>
            </a:r>
            <a:r>
              <a:rPr lang="en-GB" sz="1000" b="1">
                <a:solidFill>
                  <a:schemeClr val="dk2"/>
                </a:solidFill>
              </a:rPr>
              <a:t>(₹138M</a:t>
            </a:r>
            <a:r>
              <a:rPr lang="en-GB" sz="1000">
                <a:solidFill>
                  <a:schemeClr val="dk2"/>
                </a:solidFill>
              </a:rPr>
              <a:t>), followed by </a:t>
            </a:r>
            <a:r>
              <a:rPr lang="en-GB" sz="1000" b="1">
                <a:solidFill>
                  <a:schemeClr val="dk2"/>
                </a:solidFill>
              </a:rPr>
              <a:t>Punjab (₹119M).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Loan Status-Wise Distribution: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>
                <a:solidFill>
                  <a:schemeClr val="dk2"/>
                </a:solidFill>
              </a:rPr>
              <a:t>Majority are Active (₹412M) and Fully Paid (₹190M).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Grade-Wise Loan: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>
                <a:solidFill>
                  <a:schemeClr val="dk2"/>
                </a:solidFill>
              </a:rPr>
              <a:t>Most loans are in </a:t>
            </a:r>
            <a:r>
              <a:rPr lang="en-GB" sz="1000" b="1">
                <a:solidFill>
                  <a:schemeClr val="dk2"/>
                </a:solidFill>
              </a:rPr>
              <a:t>Grade B (₹134M) </a:t>
            </a:r>
            <a:r>
              <a:rPr lang="en-GB" sz="1000">
                <a:solidFill>
                  <a:schemeClr val="dk2"/>
                </a:solidFill>
              </a:rPr>
              <a:t>and </a:t>
            </a:r>
            <a:r>
              <a:rPr lang="en-GB" sz="1000" b="1">
                <a:solidFill>
                  <a:schemeClr val="dk2"/>
                </a:solidFill>
              </a:rPr>
              <a:t>Grade C (₹87M).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Product Group-Wise Loan:</a:t>
            </a:r>
            <a:endParaRPr sz="1000" b="1">
              <a:solidFill>
                <a:schemeClr val="dk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-GB" sz="1000" b="1">
                <a:solidFill>
                  <a:schemeClr val="dk2"/>
                </a:solidFill>
              </a:rPr>
              <a:t>Home Loans </a:t>
            </a:r>
            <a:r>
              <a:rPr lang="en-GB" sz="1000">
                <a:solidFill>
                  <a:schemeClr val="dk2"/>
                </a:solidFill>
              </a:rPr>
              <a:t>dominate with </a:t>
            </a:r>
            <a:r>
              <a:rPr lang="en-GB" sz="1000" b="1">
                <a:solidFill>
                  <a:schemeClr val="dk2"/>
                </a:solidFill>
              </a:rPr>
              <a:t>₹278M </a:t>
            </a:r>
            <a:r>
              <a:rPr lang="en-GB" sz="1000">
                <a:solidFill>
                  <a:schemeClr val="dk2"/>
                </a:solidFill>
              </a:rPr>
              <a:t>— bank’s most popular product.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Age Group-Wise Loan:</a:t>
            </a:r>
            <a:endParaRPr sz="1000" b="1">
              <a:solidFill>
                <a:schemeClr val="dk2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000" b="1">
                <a:solidFill>
                  <a:schemeClr val="dk2"/>
                </a:solidFill>
              </a:rPr>
              <a:t>26–35 </a:t>
            </a:r>
            <a:r>
              <a:rPr lang="en-GB" sz="1000">
                <a:solidFill>
                  <a:schemeClr val="dk2"/>
                </a:solidFill>
              </a:rPr>
              <a:t>age group has highest loan volume </a:t>
            </a:r>
            <a:r>
              <a:rPr lang="en-GB" sz="1000" b="1">
                <a:solidFill>
                  <a:schemeClr val="dk2"/>
                </a:solidFill>
              </a:rPr>
              <a:t>(₹261M)</a:t>
            </a:r>
            <a:r>
              <a:rPr lang="en-GB" sz="1000">
                <a:solidFill>
                  <a:schemeClr val="dk2"/>
                </a:solidFill>
              </a:rPr>
              <a:t>,</a:t>
            </a:r>
            <a:r>
              <a:rPr lang="en-GB" sz="1000" b="1">
                <a:solidFill>
                  <a:schemeClr val="dk2"/>
                </a:solidFill>
              </a:rPr>
              <a:t> </a:t>
            </a:r>
            <a:r>
              <a:rPr lang="en-GB" sz="1000">
                <a:solidFill>
                  <a:schemeClr val="dk2"/>
                </a:solidFill>
              </a:rPr>
              <a:t>followed by </a:t>
            </a:r>
            <a:r>
              <a:rPr lang="en-GB" sz="1000" b="1">
                <a:solidFill>
                  <a:schemeClr val="dk2"/>
                </a:solidFill>
              </a:rPr>
              <a:t>36–45.</a:t>
            </a:r>
            <a:endParaRPr sz="1000" b="1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1164925" y="51675"/>
            <a:ext cx="6787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BANK ANALYTICS AND DASHBOARD</a:t>
            </a:r>
            <a:endParaRPr sz="19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25" y="645600"/>
            <a:ext cx="8877825" cy="43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2499300" y="75175"/>
            <a:ext cx="41454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EXCEL DASHBOARD</a:t>
            </a:r>
            <a:endParaRPr sz="26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50" y="539925"/>
            <a:ext cx="8839201" cy="453541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2792850" y="63525"/>
            <a:ext cx="35583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TABLEAU DASHBOARD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28175"/>
            <a:ext cx="8839200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2710650" y="51725"/>
            <a:ext cx="3722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POWER BI DASHBOARD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6975"/>
            <a:ext cx="4419600" cy="436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626975"/>
            <a:ext cx="4267201" cy="436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2961000" y="110375"/>
            <a:ext cx="32220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 SQL COMMANDS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90750" y="516600"/>
            <a:ext cx="8962500" cy="46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Key KPIs:</a:t>
            </a:r>
            <a:endParaRPr sz="11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Total Credit Amount:</a:t>
            </a:r>
            <a:r>
              <a:rPr lang="en-GB" sz="1100">
                <a:solidFill>
                  <a:schemeClr val="dk2"/>
                </a:solidFill>
              </a:rPr>
              <a:t> ₹128 Million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Total Debit Amount:</a:t>
            </a:r>
            <a:r>
              <a:rPr lang="en-GB" sz="1100">
                <a:solidFill>
                  <a:schemeClr val="dk2"/>
                </a:solidFill>
              </a:rPr>
              <a:t> ₹127 Million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Net Transaction Amount:</a:t>
            </a:r>
            <a:r>
              <a:rPr lang="en-GB" sz="1100">
                <a:solidFill>
                  <a:schemeClr val="dk2"/>
                </a:solidFill>
              </a:rPr>
              <a:t> ₹0.32 Million (positive)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Credit to Debit Ratio:</a:t>
            </a:r>
            <a:r>
              <a:rPr lang="en-GB" sz="1100">
                <a:solidFill>
                  <a:schemeClr val="dk2"/>
                </a:solidFill>
              </a:rPr>
              <a:t> 1.0025 : 1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Account Activity Ratio:</a:t>
            </a:r>
            <a:r>
              <a:rPr lang="en-GB" sz="1100">
                <a:solidFill>
                  <a:schemeClr val="dk2"/>
                </a:solidFill>
              </a:rPr>
              <a:t> 0.0002 : 1 (very low)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📌 Insights:</a:t>
            </a:r>
            <a:endParaRPr sz="11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Transaction Methods Distribution:</a:t>
            </a: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Balanced among </a:t>
            </a:r>
            <a:r>
              <a:rPr lang="en-GB" sz="1100" b="1">
                <a:solidFill>
                  <a:schemeClr val="dk2"/>
                </a:solidFill>
              </a:rPr>
              <a:t>Debit Card (34%)</a:t>
            </a:r>
            <a:r>
              <a:rPr lang="en-GB" sz="1100">
                <a:solidFill>
                  <a:schemeClr val="dk2"/>
                </a:solidFill>
              </a:rPr>
              <a:t>, </a:t>
            </a:r>
            <a:r>
              <a:rPr lang="en-GB" sz="1100" b="1">
                <a:solidFill>
                  <a:schemeClr val="dk2"/>
                </a:solidFill>
              </a:rPr>
              <a:t>Credit Card (33%)</a:t>
            </a:r>
            <a:r>
              <a:rPr lang="en-GB" sz="1100">
                <a:solidFill>
                  <a:schemeClr val="dk2"/>
                </a:solidFill>
              </a:rPr>
              <a:t>, and </a:t>
            </a:r>
            <a:r>
              <a:rPr lang="en-GB" sz="1100" b="1">
                <a:solidFill>
                  <a:schemeClr val="dk2"/>
                </a:solidFill>
              </a:rPr>
              <a:t>Bank Transfer (33%).</a:t>
            </a: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Indicates even preference by users.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Branch Performance:</a:t>
            </a: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City Centre Branch</a:t>
            </a:r>
            <a:r>
              <a:rPr lang="en-GB" sz="1100">
                <a:solidFill>
                  <a:schemeClr val="dk2"/>
                </a:solidFill>
              </a:rPr>
              <a:t> has the </a:t>
            </a:r>
            <a:r>
              <a:rPr lang="en-GB" sz="1100" b="1">
                <a:solidFill>
                  <a:schemeClr val="dk2"/>
                </a:solidFill>
              </a:rPr>
              <a:t>highest transaction amount (~₹42.91M)</a:t>
            </a:r>
            <a:r>
              <a:rPr lang="en-GB" sz="1100">
                <a:solidFill>
                  <a:schemeClr val="dk2"/>
                </a:solidFill>
              </a:rPr>
              <a:t>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North Branch</a:t>
            </a:r>
            <a:r>
              <a:rPr lang="en-GB" sz="1100">
                <a:solidFill>
                  <a:schemeClr val="dk2"/>
                </a:solidFill>
              </a:rPr>
              <a:t> the lowest (~₹41.68M), but all are close in range.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Suspicious Transactions:</a:t>
            </a: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Peak in </a:t>
            </a:r>
            <a:r>
              <a:rPr lang="en-GB" sz="1100" b="1">
                <a:solidFill>
                  <a:schemeClr val="dk2"/>
                </a:solidFill>
              </a:rPr>
              <a:t>March (236)</a:t>
            </a:r>
            <a:r>
              <a:rPr lang="en-GB" sz="1100">
                <a:solidFill>
                  <a:schemeClr val="dk2"/>
                </a:solidFill>
              </a:rPr>
              <a:t>, gradual decline after.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Sharp drop in </a:t>
            </a:r>
            <a:r>
              <a:rPr lang="en-GB" sz="1100" b="1">
                <a:solidFill>
                  <a:schemeClr val="dk2"/>
                </a:solidFill>
              </a:rPr>
              <a:t>December (5)</a:t>
            </a:r>
            <a:endParaRPr sz="11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Transactions per Month:</a:t>
            </a: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Fairly stable across months (around 9.2K to 9.5K), but </a:t>
            </a:r>
            <a:r>
              <a:rPr lang="en-GB" sz="1100" b="1">
                <a:solidFill>
                  <a:schemeClr val="dk2"/>
                </a:solidFill>
              </a:rPr>
              <a:t>drastic fall in December (1.1K)</a:t>
            </a:r>
            <a:r>
              <a:rPr lang="en-GB" sz="1100">
                <a:solidFill>
                  <a:schemeClr val="dk2"/>
                </a:solidFill>
              </a:rPr>
              <a:t> </a:t>
            </a:r>
            <a:r>
              <a:rPr lang="en-GB" sz="1100" b="1">
                <a:solidFill>
                  <a:schemeClr val="dk2"/>
                </a:solidFill>
              </a:rPr>
              <a:t>Transaction Volume by Bank:</a:t>
            </a: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Kotak Mahindra Bank</a:t>
            </a:r>
            <a:r>
              <a:rPr lang="en-GB" sz="1100">
                <a:solidFill>
                  <a:schemeClr val="dk2"/>
                </a:solidFill>
              </a:rPr>
              <a:t> and </a:t>
            </a:r>
            <a:r>
              <a:rPr lang="en-GB" sz="1100" b="1">
                <a:solidFill>
                  <a:schemeClr val="dk2"/>
                </a:solidFill>
              </a:rPr>
              <a:t>Axis Bank</a:t>
            </a:r>
            <a:r>
              <a:rPr lang="en-GB" sz="1100">
                <a:solidFill>
                  <a:schemeClr val="dk2"/>
                </a:solidFill>
              </a:rPr>
              <a:t> lead (₹42.63M and ₹42.17M).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 b="1">
                <a:solidFill>
                  <a:schemeClr val="dk2"/>
                </a:solidFill>
              </a:rPr>
              <a:t>HDFC Bank</a:t>
            </a:r>
            <a:r>
              <a:rPr lang="en-GB" sz="1100">
                <a:solidFill>
                  <a:schemeClr val="dk2"/>
                </a:solidFill>
              </a:rPr>
              <a:t> lowest with ₹41.87M – still close, but consistently lower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2088300" y="0"/>
            <a:ext cx="49674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CREDIT AND DEBIT DASHBOARD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75" y="575150"/>
            <a:ext cx="8839200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/>
        </p:nvSpPr>
        <p:spPr>
          <a:xfrm>
            <a:off x="2587350" y="63350"/>
            <a:ext cx="39693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EXCEL DASHBOARD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28175"/>
            <a:ext cx="8839200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/>
        </p:nvSpPr>
        <p:spPr>
          <a:xfrm>
            <a:off x="2409700" y="0"/>
            <a:ext cx="44388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TABLEAU DASHBOARD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25" y="539925"/>
            <a:ext cx="8839200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2750225" y="63425"/>
            <a:ext cx="42864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POWER BI DASHBOARD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2268775" y="63425"/>
            <a:ext cx="1785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5800"/>
            <a:ext cx="4642674" cy="430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5750" y="685800"/>
            <a:ext cx="4127600" cy="43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2740050" y="0"/>
            <a:ext cx="36639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 SQL COMMAND</a:t>
            </a:r>
            <a:endParaRPr sz="20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19601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2625" y="152400"/>
            <a:ext cx="433897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/>
        </p:nvSpPr>
        <p:spPr>
          <a:xfrm>
            <a:off x="2698950" y="63400"/>
            <a:ext cx="37461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Nunito"/>
                <a:ea typeface="Nunito"/>
                <a:cs typeface="Nunito"/>
                <a:sym typeface="Nunito"/>
              </a:rPr>
              <a:t>Strategic Recommendations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97925" y="474275"/>
            <a:ext cx="8911500" cy="47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Improve Account Engagement:</a:t>
            </a:r>
            <a:endParaRPr sz="1300" b="1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➔"/>
            </a:pPr>
            <a:r>
              <a:rPr lang="en-GB" sz="1100" b="1"/>
              <a:t>Account Activity Ratio </a:t>
            </a:r>
            <a:r>
              <a:rPr lang="en-GB" sz="1100"/>
              <a:t>is extremely low </a:t>
            </a:r>
            <a:r>
              <a:rPr lang="en-GB" sz="1100" b="1"/>
              <a:t>(0.0002:1), </a:t>
            </a:r>
            <a:r>
              <a:rPr lang="en-GB" sz="1100"/>
              <a:t>indicating inactive or dormant accounts.</a:t>
            </a:r>
            <a:endParaRPr sz="1100"/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◆"/>
            </a:pPr>
            <a:r>
              <a:rPr lang="en-GB" sz="1100" b="1"/>
              <a:t>Action: </a:t>
            </a:r>
            <a:r>
              <a:rPr lang="en-GB" sz="1100"/>
              <a:t>Initiate customer engagement campaigns or account clean-up strategies.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Focus on Underperforming Branches:</a:t>
            </a:r>
            <a:endParaRPr sz="1300" b="1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➔"/>
            </a:pPr>
            <a:r>
              <a:rPr lang="en-GB" sz="1100" b="1"/>
              <a:t>Action: </a:t>
            </a:r>
            <a:r>
              <a:rPr lang="en-GB" sz="1100"/>
              <a:t>Branches like </a:t>
            </a:r>
            <a:r>
              <a:rPr lang="en-GB" sz="1100" b="1"/>
              <a:t>North and Suburban </a:t>
            </a:r>
            <a:r>
              <a:rPr lang="en-GB" sz="1100"/>
              <a:t>have slightly lower transaction volumes.</a:t>
            </a:r>
            <a:endParaRPr sz="1100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➔"/>
            </a:pPr>
            <a:r>
              <a:rPr lang="en-GB" sz="1100" b="1"/>
              <a:t>Action: </a:t>
            </a:r>
            <a:r>
              <a:rPr lang="en-GB" sz="1100"/>
              <a:t>Provide branch-level support, local marketing, or product training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Strengthen Risk Monitoring:</a:t>
            </a:r>
            <a:endParaRPr sz="1300" b="1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➔"/>
            </a:pPr>
            <a:r>
              <a:rPr lang="en-GB" sz="1100" b="1"/>
              <a:t>Action: </a:t>
            </a:r>
            <a:r>
              <a:rPr lang="en-GB" sz="1100"/>
              <a:t>Reduce </a:t>
            </a:r>
            <a:r>
              <a:rPr lang="en-GB" sz="1100" b="1"/>
              <a:t>delinquency (10.84%) </a:t>
            </a:r>
            <a:r>
              <a:rPr lang="en-GB" sz="1100"/>
              <a:t>through early-warning systems and improved borrower screening.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Target High-Performing Segments:</a:t>
            </a:r>
            <a:endParaRPr sz="1300" b="1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➔"/>
            </a:pPr>
            <a:r>
              <a:rPr lang="en-GB" sz="1100"/>
              <a:t>Focus on </a:t>
            </a:r>
            <a:r>
              <a:rPr lang="en-GB" sz="1100" b="1"/>
              <a:t>Home Loans </a:t>
            </a:r>
            <a:r>
              <a:rPr lang="en-GB" sz="1100"/>
              <a:t>and the </a:t>
            </a:r>
            <a:r>
              <a:rPr lang="en-GB" sz="1100" b="1"/>
              <a:t>26–35 age group</a:t>
            </a:r>
            <a:r>
              <a:rPr lang="en-GB" sz="1100"/>
              <a:t>, which show high engagement and loan volume.</a:t>
            </a:r>
            <a:endParaRPr sz="1100"/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◆"/>
            </a:pPr>
            <a:r>
              <a:rPr lang="en-GB" sz="1100" b="1"/>
              <a:t>Action: </a:t>
            </a:r>
            <a:r>
              <a:rPr lang="en-GB" sz="1100"/>
              <a:t>Launch tailored offers or pre-approved loan products for these segments.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Improve Loan Verification Process:</a:t>
            </a:r>
            <a:endParaRPr sz="1300" b="1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➔"/>
            </a:pPr>
            <a:r>
              <a:rPr lang="en-GB" sz="1100"/>
              <a:t>High number of </a:t>
            </a:r>
            <a:r>
              <a:rPr lang="en-GB" sz="1100" b="1"/>
              <a:t>Not-Verified Loans (42.74K)</a:t>
            </a:r>
            <a:r>
              <a:rPr lang="en-GB" sz="1100"/>
              <a:t> poses operational risk.</a:t>
            </a:r>
            <a:endParaRPr sz="1100"/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◆"/>
            </a:pPr>
            <a:r>
              <a:rPr lang="en-GB" sz="1100" b="1"/>
              <a:t>Action: </a:t>
            </a:r>
            <a:r>
              <a:rPr lang="en-GB" sz="1100"/>
              <a:t>Strengthen KYC/verification protocols to minimize fraudulent or weak applicants.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Use Targeted Marketing Based on Region:</a:t>
            </a:r>
            <a:endParaRPr sz="1300" b="1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➔"/>
            </a:pPr>
            <a:r>
              <a:rPr lang="en-GB" sz="1100"/>
              <a:t>States like </a:t>
            </a:r>
            <a:r>
              <a:rPr lang="en-GB" sz="1100" b="1"/>
              <a:t>UP, Punjab, and Bihar </a:t>
            </a:r>
            <a:r>
              <a:rPr lang="en-GB" sz="1100"/>
              <a:t>show higher loan volumes.</a:t>
            </a:r>
            <a:endParaRPr sz="1100"/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◆"/>
            </a:pPr>
            <a:r>
              <a:rPr lang="en-GB" sz="1100" b="1"/>
              <a:t>Action: </a:t>
            </a:r>
            <a:r>
              <a:rPr lang="en-GB" sz="1100"/>
              <a:t>Focus campaigns in high-potential states and replicate best practices in lower-performing ones.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/>
        </p:nvSpPr>
        <p:spPr>
          <a:xfrm>
            <a:off x="201300" y="1343425"/>
            <a:ext cx="4370700" cy="2520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 dirty="0"/>
              <a:t>The Loan Analytics Dashboard provides a complete overview of the bank’s lending ecosystem, covering funding, collection, interest, and repayment trends.</a:t>
            </a:r>
            <a:endParaRPr sz="1200" dirty="0"/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 dirty="0"/>
              <a:t>It identifies profitable segments like Home Loans and the 26–35 age group, along with top-performing states such as Uttar Pradesh and Punjab.</a:t>
            </a:r>
            <a:endParaRPr sz="1200" dirty="0"/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 dirty="0"/>
              <a:t>However, it also reveals operational risks such as a high delinquent loan rate (10.84%).</a:t>
            </a:r>
            <a:endParaRPr sz="1200" dirty="0"/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 dirty="0"/>
              <a:t>Overall, the dashboard empowers better loan risk monitoring, data governance, and targeted lending strategies to strengthen financial health.</a:t>
            </a:r>
            <a:endParaRPr sz="1200" dirty="0"/>
          </a:p>
        </p:txBody>
      </p:sp>
      <p:sp>
        <p:nvSpPr>
          <p:cNvPr id="197" name="Google Shape;197;p31"/>
          <p:cNvSpPr txBox="1"/>
          <p:nvPr/>
        </p:nvSpPr>
        <p:spPr>
          <a:xfrm>
            <a:off x="4699625" y="1343425"/>
            <a:ext cx="4203900" cy="2520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 dirty="0"/>
              <a:t>The Transaction Dashboard offers real-time visibility into cash flows, channel mix, and branch activity.</a:t>
            </a:r>
            <a:endParaRPr sz="1200" dirty="0"/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 dirty="0"/>
              <a:t>It confirms a stable, balanced credit/debit mix and consistent branch performance, yet uncovers suspicious spikes and seasonal drops.</a:t>
            </a:r>
            <a:endParaRPr sz="1200" dirty="0"/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 dirty="0"/>
              <a:t>With method distribution, monthly trends, and bank-level volumes all in one place, it empowers fraud detection and operational tuning.</a:t>
            </a:r>
            <a:endParaRPr sz="1200" dirty="0"/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 dirty="0"/>
              <a:t>In sum, this dashboard underpins continuous transaction monitoring, fraud prevention, and digital engagement initiatives.</a:t>
            </a:r>
            <a:endParaRPr sz="1200" dirty="0"/>
          </a:p>
        </p:txBody>
      </p:sp>
      <p:sp>
        <p:nvSpPr>
          <p:cNvPr id="198" name="Google Shape;198;p31"/>
          <p:cNvSpPr/>
          <p:nvPr/>
        </p:nvSpPr>
        <p:spPr>
          <a:xfrm>
            <a:off x="2215675" y="535014"/>
            <a:ext cx="4304071" cy="44876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21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PresentationFormat>On-screen Show (16:9)</PresentationFormat>
  <Paragraphs>117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Lato</vt:lpstr>
      <vt:lpstr>Arial</vt:lpstr>
      <vt:lpstr>Raleway</vt:lpstr>
      <vt:lpstr>Nunito</vt:lpstr>
      <vt:lpstr>Roboto</vt:lpstr>
      <vt:lpstr>Swiss</vt:lpstr>
      <vt:lpstr>BANK ANALYTICS P1009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Divya Thiagarajan</cp:lastModifiedBy>
  <cp:revision>1</cp:revision>
  <dcterms:modified xsi:type="dcterms:W3CDTF">2025-10-08T09:28:35Z</dcterms:modified>
</cp:coreProperties>
</file>